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90" r:id="rId2"/>
    <p:sldId id="291" r:id="rId3"/>
    <p:sldId id="292" r:id="rId4"/>
    <p:sldId id="293" r:id="rId5"/>
    <p:sldId id="294" r:id="rId6"/>
    <p:sldId id="295" r:id="rId7"/>
    <p:sldId id="296" r:id="rId8"/>
    <p:sldId id="297" r:id="rId9"/>
    <p:sldId id="298" r:id="rId10"/>
    <p:sldId id="299" r:id="rId11"/>
    <p:sldId id="301" r:id="rId12"/>
    <p:sldId id="304" r:id="rId13"/>
    <p:sldId id="305" r:id="rId14"/>
    <p:sldId id="306" r:id="rId15"/>
    <p:sldId id="307" r:id="rId16"/>
    <p:sldId id="308" r:id="rId17"/>
    <p:sldId id="309"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mjhim gaud" userId="d90dbfd5da7707a9" providerId="LiveId" clId="{CFFC7ECE-33E3-4E67-B226-418DB7C8660A}"/>
    <pc:docChg chg="modSld">
      <pc:chgData name="rimjhim gaud" userId="d90dbfd5da7707a9" providerId="LiveId" clId="{CFFC7ECE-33E3-4E67-B226-418DB7C8660A}" dt="2026-10-07T19:37:45.161" v="3" actId="255"/>
      <pc:docMkLst>
        <pc:docMk/>
      </pc:docMkLst>
      <pc:sldChg chg="modSp mod">
        <pc:chgData name="rimjhim gaud" userId="d90dbfd5da7707a9" providerId="LiveId" clId="{CFFC7ECE-33E3-4E67-B226-418DB7C8660A}" dt="2026-10-07T19:37:45.161" v="3" actId="255"/>
        <pc:sldMkLst>
          <pc:docMk/>
          <pc:sldMk cId="4040412275" sldId="305"/>
        </pc:sldMkLst>
        <pc:spChg chg="mod">
          <ac:chgData name="rimjhim gaud" userId="d90dbfd5da7707a9" providerId="LiveId" clId="{CFFC7ECE-33E3-4E67-B226-418DB7C8660A}" dt="2026-10-07T19:37:29.284" v="2" actId="255"/>
          <ac:spMkLst>
            <pc:docMk/>
            <pc:sldMk cId="4040412275" sldId="305"/>
            <ac:spMk id="278" creationId="{187EEB9C-2E84-113A-3CE6-1507BF5B039F}"/>
          </ac:spMkLst>
        </pc:spChg>
        <pc:spChg chg="mod">
          <ac:chgData name="rimjhim gaud" userId="d90dbfd5da7707a9" providerId="LiveId" clId="{CFFC7ECE-33E3-4E67-B226-418DB7C8660A}" dt="2026-10-07T19:37:45.161" v="3" actId="255"/>
          <ac:spMkLst>
            <pc:docMk/>
            <pc:sldMk cId="4040412275" sldId="305"/>
            <ac:spMk id="279" creationId="{3711AF54-94A6-B837-31EF-9A8C4ECB9AF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18558622"/>
              </p:ext>
            </p:extLst>
          </p:nvPr>
        </p:nvGraphicFramePr>
        <p:xfrm>
          <a:off x="1206162" y="2591171"/>
          <a:ext cx="9037022" cy="2167128"/>
        </p:xfrm>
        <a:graphic>
          <a:graphicData uri="http://schemas.openxmlformats.org/drawingml/2006/table">
            <a:tbl>
              <a:tblPr>
                <a:noFill/>
                <a:tableStyleId>{0AAD8F4D-43EB-41E5-8A38-28AB6DFB1B60}</a:tableStyleId>
              </a:tblPr>
              <a:tblGrid>
                <a:gridCol w="1706900">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IN" sz="2400" dirty="0"/>
                        <a:t>Rimjhim</a:t>
                      </a:r>
                    </a:p>
                    <a:p>
                      <a:pPr marL="0" marR="0" lvl="0" indent="0" algn="ctr" rtl="0">
                        <a:spcBef>
                          <a:spcPts val="0"/>
                        </a:spcBef>
                        <a:spcAft>
                          <a:spcPts val="0"/>
                        </a:spcAft>
                        <a:buNone/>
                      </a:pPr>
                      <a:r>
                        <a:rPr lang="en-IN" sz="2400" dirty="0"/>
                        <a:t>Gaud</a:t>
                      </a:r>
                      <a:endParaRPr sz="2400" dirty="0"/>
                    </a:p>
                  </a:txBody>
                  <a:tcPr marL="91450" marR="91450" marT="45725" marB="45725">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400" dirty="0"/>
                        <a:t>nainabhargav55@gmail.com</a:t>
                      </a:r>
                      <a:endParaRPr sz="2400" dirty="0"/>
                    </a:p>
                  </a:txBody>
                  <a:tcPr marL="91450" marR="91450" marT="45725" marB="45725">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sz="2400" dirty="0"/>
                        <a:t>8503010066</a:t>
                      </a:r>
                      <a:endParaRPr sz="24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US" sz="2400" b="1" dirty="0">
                <a:highlight>
                  <a:srgbClr val="FFFF00"/>
                </a:highlight>
              </a:rPr>
              <a:t>[ like Social Media Automation / Marketing Technology / AI / …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cs typeface="Times New Roman"/>
                <a:sym typeface="Times New Roman"/>
              </a:rPr>
              <a:t>Social Media Agent</a:t>
            </a:r>
            <a:r>
              <a:rPr lang="en-US" sz="2400" b="1" dirty="0">
                <a:highlight>
                  <a:srgbClr val="FFFF00"/>
                </a:highlight>
              </a:rPr>
              <a:t>]</a:t>
            </a:r>
            <a:endParaRPr lang="en-IN" sz="2400" b="1" dirty="0">
              <a:highlight>
                <a:srgbClr val="FFFF00"/>
              </a:highlight>
            </a:endParaRP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411480" y="525673"/>
            <a:ext cx="10607040" cy="7017306"/>
          </a:xfrm>
          <a:prstGeom prst="rect">
            <a:avLst/>
          </a:prstGeom>
          <a:noFill/>
        </p:spPr>
        <p:txBody>
          <a:bodyPr wrap="square" rtlCol="0">
            <a:spAutoFit/>
          </a:bodyPr>
          <a:lstStyle/>
          <a:p>
            <a:pPr fontAlgn="base"/>
            <a:r>
              <a:rPr lang="en-US" sz="1700" b="1" dirty="0"/>
              <a:t>Problem Statement : Social Media Agent</a:t>
            </a:r>
            <a:endParaRPr lang="en-US" sz="1700" dirty="0"/>
          </a:p>
          <a:p>
            <a:pPr fontAlgn="base"/>
            <a:endParaRPr lang="en-US" b="1" dirty="0"/>
          </a:p>
          <a:p>
            <a:pPr fontAlgn="base"/>
            <a:r>
              <a:rPr lang="en-US" sz="1700" b="1" dirty="0"/>
              <a:t>The Challenge</a:t>
            </a:r>
            <a:r>
              <a:rPr lang="en-US" sz="1700" dirty="0"/>
              <a:t> </a:t>
            </a:r>
          </a:p>
          <a:p>
            <a:pPr fontAlgn="base"/>
            <a:r>
              <a:rPr lang="en-IN" sz="1700" dirty="0"/>
              <a:t>Brands, influencers, and organizations struggle to keep up with the </a:t>
            </a:r>
            <a:r>
              <a:rPr lang="en-IN" sz="1700" b="1" dirty="0"/>
              <a:t>fast-paced and fragmented world of social media</a:t>
            </a:r>
            <a:r>
              <a:rPr lang="en-IN" sz="1700" dirty="0"/>
              <a:t>. Content trends evolve hourly, audience sentiment shifts rapidly, and competitor strategies are difficult to track. Managing multiple platforms often leads to scattered insights, missed engagement opportunities, and ineffective campaigns. The challenge is not only to collect social media data but also to </a:t>
            </a:r>
            <a:r>
              <a:rPr lang="en-IN" sz="1700" b="1" dirty="0" err="1"/>
              <a:t>analyze</a:t>
            </a:r>
            <a:r>
              <a:rPr lang="en-IN" sz="1700" b="1" dirty="0"/>
              <a:t>, predict, and recommend actions in real time</a:t>
            </a:r>
          </a:p>
          <a:p>
            <a:pPr fontAlgn="base"/>
            <a:endParaRPr lang="en-IN" b="1" dirty="0"/>
          </a:p>
          <a:p>
            <a:pPr fontAlgn="base"/>
            <a:endParaRPr lang="en-US" dirty="0"/>
          </a:p>
          <a:p>
            <a:pPr fontAlgn="base"/>
            <a:r>
              <a:rPr lang="en-US" sz="1700" b="1" dirty="0"/>
              <a:t>The Objective</a:t>
            </a:r>
            <a:r>
              <a:rPr lang="en-US" sz="1700" dirty="0"/>
              <a:t> </a:t>
            </a:r>
          </a:p>
          <a:p>
            <a:pPr fontAlgn="base"/>
            <a:r>
              <a:rPr lang="en-IN" sz="1600" dirty="0"/>
              <a:t>Build an </a:t>
            </a:r>
            <a:r>
              <a:rPr lang="en-IN" sz="1600" b="1" dirty="0"/>
              <a:t>agentic AI application</a:t>
            </a:r>
            <a:r>
              <a:rPr lang="en-IN" sz="1600" dirty="0"/>
              <a:t> that acts as an intelligent social media companion.</a:t>
            </a:r>
          </a:p>
          <a:p>
            <a:pPr fontAlgn="base"/>
            <a:r>
              <a:rPr lang="en-IN" sz="1600" dirty="0"/>
              <a:t> The solution should:</a:t>
            </a:r>
          </a:p>
          <a:p>
            <a:pPr fontAlgn="base"/>
            <a:endParaRPr lang="en-IN" sz="1600" dirty="0"/>
          </a:p>
          <a:p>
            <a:pPr marL="342900" indent="-342900" fontAlgn="base">
              <a:buAutoNum type="arabicPeriod"/>
            </a:pPr>
            <a:r>
              <a:rPr lang="en-IN" sz="1600" b="1" dirty="0"/>
              <a:t>Fuse Multichannel Data :-</a:t>
            </a:r>
            <a:r>
              <a:rPr lang="en-IN" sz="1600" dirty="0"/>
              <a:t> Collect and synthesize content, comments, hashtags, and competitor posts from                        platforms like X, LinkedIn, Instagram, and Facebook into unified insights.</a:t>
            </a:r>
          </a:p>
          <a:p>
            <a:pPr marL="342900" indent="-342900" fontAlgn="base">
              <a:buAutoNum type="arabicPeriod"/>
            </a:pPr>
            <a:endParaRPr lang="en-IN" sz="1600" dirty="0"/>
          </a:p>
          <a:p>
            <a:pPr marL="342900" indent="-342900" fontAlgn="base">
              <a:buFont typeface="Arial"/>
              <a:buAutoNum type="arabicPeriod"/>
            </a:pPr>
            <a:r>
              <a:rPr lang="en-IN" sz="1600" b="1" dirty="0"/>
              <a:t>Enable Multimodal Interaction :-</a:t>
            </a:r>
            <a:r>
              <a:rPr lang="en-IN" sz="1600" dirty="0"/>
              <a:t> Accept user inputs (text, images, or voice prompts) and generate creative post drafts, captions, or campaign ideas aligned with brand tone.</a:t>
            </a:r>
          </a:p>
          <a:p>
            <a:pPr marL="342900" indent="-342900" fontAlgn="base">
              <a:buFont typeface="Arial"/>
              <a:buAutoNum type="arabicPeriod"/>
            </a:pPr>
            <a:endParaRPr lang="en-IN" sz="1600" dirty="0"/>
          </a:p>
          <a:p>
            <a:pPr marL="342900" indent="-342900" fontAlgn="base">
              <a:buFont typeface="Arial"/>
              <a:buAutoNum type="arabicPeriod"/>
            </a:pPr>
            <a:r>
              <a:rPr lang="en-IN" sz="1600" b="1" dirty="0"/>
              <a:t>Create a Predictive &amp; Agentic Layer :-</a:t>
            </a:r>
            <a:r>
              <a:rPr lang="en-IN" sz="1600" dirty="0"/>
              <a:t> Forecast trending hashtags, audience sentiment shifts, and competitor engagement patterns while suggesting the best posting schedules</a:t>
            </a:r>
            <a:r>
              <a:rPr lang="en-IN" dirty="0"/>
              <a:t>.</a:t>
            </a:r>
          </a:p>
          <a:p>
            <a:pPr marL="342900" indent="-342900" fontAlgn="base">
              <a:buFont typeface="Arial"/>
              <a:buAutoNum type="arabicPeriod"/>
            </a:pPr>
            <a:endParaRPr lang="en-IN" sz="1600" dirty="0"/>
          </a:p>
          <a:p>
            <a:pPr marL="342900" indent="-342900" fontAlgn="base">
              <a:buFont typeface="Arial"/>
              <a:buAutoNum type="arabicPeriod"/>
            </a:pPr>
            <a:r>
              <a:rPr lang="en-IN" sz="1600" b="1" dirty="0"/>
              <a:t>Visualize Social Media Pulse :-</a:t>
            </a:r>
            <a:r>
              <a:rPr lang="en-IN" sz="1600" dirty="0"/>
              <a:t> Provide a dashboard with real-time analytics—engagement trends, influencer mapping, sentiment tracking, and campaign performance forecasts.</a:t>
            </a:r>
          </a:p>
          <a:p>
            <a:pPr marL="342900" indent="-342900" fontAlgn="base">
              <a:buFont typeface="Arial"/>
              <a:buAutoNum type="arabicPeriod"/>
            </a:pPr>
            <a:endParaRPr lang="en-IN" sz="1600" dirty="0"/>
          </a:p>
          <a:p>
            <a:pPr marL="342900" indent="-342900" fontAlgn="base">
              <a:buAutoNum type="arabicPeriod"/>
            </a:pPr>
            <a:endParaRPr lang="en-IN" sz="1600" dirty="0"/>
          </a:p>
          <a:p>
            <a:pPr fontAlgn="base"/>
            <a:endParaRPr lang="en-US" sz="16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411480" y="6400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228600" y="420624"/>
            <a:ext cx="10607040" cy="6663363"/>
          </a:xfrm>
          <a:prstGeom prst="rect">
            <a:avLst/>
          </a:prstGeom>
          <a:noFill/>
        </p:spPr>
        <p:txBody>
          <a:bodyPr wrap="square" rtlCol="0">
            <a:spAutoFit/>
          </a:bodyPr>
          <a:lstStyle/>
          <a:p>
            <a:endParaRPr lang="en-US" b="1" dirty="0"/>
          </a:p>
          <a:p>
            <a:r>
              <a:rPr lang="en-US" sz="1700" b="1" dirty="0"/>
              <a:t>Proposed Solution: AI-Powered Social Media Agent</a:t>
            </a:r>
          </a:p>
          <a:p>
            <a:r>
              <a:rPr lang="en-US" sz="1600" dirty="0"/>
              <a:t>A multi-agent AI solution built using IBM Bob, IBM watsonx.ai, and Granite Models to automate content creation, trend tracking, and audience engagement.</a:t>
            </a:r>
          </a:p>
          <a:p>
            <a:r>
              <a:rPr lang="en-US" sz="1600" dirty="0"/>
              <a:t>The system uses a Retrieval-Augmented Generation (RAG) pipeline to fetch live market trends and brand data to generate relevant posts.</a:t>
            </a:r>
          </a:p>
          <a:p>
            <a:endParaRPr lang="en-US" sz="1600" dirty="0"/>
          </a:p>
          <a:p>
            <a:r>
              <a:rPr lang="en-US" sz="1600" dirty="0"/>
              <a:t>The system consists of four key Agents:</a:t>
            </a:r>
          </a:p>
          <a:p>
            <a:endParaRPr lang="en-US" sz="1600" dirty="0"/>
          </a:p>
          <a:p>
            <a:r>
              <a:rPr lang="en-US" sz="1600" b="1" dirty="0"/>
              <a:t> * Trend Intelligence Agent: </a:t>
            </a:r>
            <a:r>
              <a:rPr lang="en-US" sz="1600" dirty="0" err="1"/>
              <a:t>Analyzesviral</a:t>
            </a:r>
            <a:r>
              <a:rPr lang="en-US" sz="1600" dirty="0"/>
              <a:t> trends and competitor strategies using RAG</a:t>
            </a:r>
            <a:r>
              <a:rPr lang="en-US" sz="1600" b="1" dirty="0"/>
              <a:t>.</a:t>
            </a:r>
          </a:p>
          <a:p>
            <a:endParaRPr lang="en-US" sz="1600" b="1" dirty="0"/>
          </a:p>
          <a:p>
            <a:r>
              <a:rPr lang="en-US" sz="1600" b="1" dirty="0"/>
              <a:t> * Content Generation Agent: </a:t>
            </a:r>
            <a:r>
              <a:rPr lang="en-US" sz="1600" dirty="0"/>
              <a:t>Creates captions, hashtags, and posts tailored to brand voice and platforms.</a:t>
            </a:r>
          </a:p>
          <a:p>
            <a:endParaRPr lang="en-US" sz="1600" dirty="0"/>
          </a:p>
          <a:p>
            <a:r>
              <a:rPr lang="en-US" sz="1600" dirty="0"/>
              <a:t> * </a:t>
            </a:r>
            <a:r>
              <a:rPr lang="en-US" sz="1600" b="1" dirty="0"/>
              <a:t>Engagement Agent: </a:t>
            </a:r>
            <a:r>
              <a:rPr lang="en-US" sz="1600" dirty="0"/>
              <a:t>Manages comments, DMs, and community interactions.</a:t>
            </a:r>
          </a:p>
          <a:p>
            <a:endParaRPr lang="en-US" sz="1600" dirty="0"/>
          </a:p>
          <a:p>
            <a:r>
              <a:rPr lang="en-US" sz="1600" b="1" dirty="0"/>
              <a:t> * Analytics Agent: </a:t>
            </a:r>
            <a:r>
              <a:rPr lang="en-US" sz="1600" dirty="0"/>
              <a:t>Tracks post performance and suggests campaign strategies</a:t>
            </a:r>
            <a:r>
              <a:rPr lang="en-US" sz="1600" b="1" dirty="0"/>
              <a:t>.</a:t>
            </a:r>
          </a:p>
          <a:p>
            <a:endParaRPr lang="en-US" sz="1600" b="1" dirty="0"/>
          </a:p>
          <a:p>
            <a:r>
              <a:rPr lang="en-US" sz="1600" dirty="0"/>
              <a:t>The solution includes a </a:t>
            </a:r>
            <a:r>
              <a:rPr lang="en-US" sz="1600" b="1" dirty="0"/>
              <a:t>user-friendly dashboard</a:t>
            </a:r>
            <a:r>
              <a:rPr lang="en-US" sz="1600" dirty="0"/>
              <a:t> (built with </a:t>
            </a:r>
            <a:r>
              <a:rPr lang="en-US" sz="1600" dirty="0" err="1"/>
              <a:t>Streamlit</a:t>
            </a:r>
            <a:r>
              <a:rPr lang="en-US" sz="1600" dirty="0"/>
              <a:t> or React) that visualizes campaign performance, tracks audience growth, and previews upcoming  pots.</a:t>
            </a:r>
          </a:p>
          <a:p>
            <a:endParaRPr lang="en-US" sz="1600" dirty="0"/>
          </a:p>
          <a:p>
            <a:r>
              <a:rPr lang="en-US" sz="1600" dirty="0"/>
              <a:t>IBM Bob is used to orchestrate agent workflows, while watsonx.ai ensures scalable model deployment, embeddings, and AI governance. Granite models power reasoning, summarization, and personalization. </a:t>
            </a:r>
          </a:p>
          <a:p>
            <a:endParaRPr lang="en-US" sz="1600" dirty="0"/>
          </a:p>
          <a:p>
            <a:r>
              <a:rPr lang="en-US" sz="1600" dirty="0"/>
              <a:t>Overall, this solution delivers an </a:t>
            </a:r>
            <a:r>
              <a:rPr lang="en-US" sz="1600" b="1" dirty="0"/>
              <a:t>end-to-end intelligent social media assistant</a:t>
            </a:r>
            <a:r>
              <a:rPr lang="en-US" sz="1600" dirty="0"/>
              <a:t> that enhances brand presence, saves time and maximizes engagement through data-driven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228600" y="114359"/>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755422"/>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content </a:t>
            </a:r>
            <a:r>
              <a:rPr lang="en-US" sz="1800" dirty="0" err="1"/>
              <a:t>generation,social</a:t>
            </a:r>
            <a:r>
              <a:rPr lang="en-US" sz="1800" dirty="0"/>
              <a:t> media </a:t>
            </a:r>
            <a:r>
              <a:rPr lang="en-US" sz="1800" dirty="0" err="1"/>
              <a:t>copywriting,engagement</a:t>
            </a:r>
            <a:r>
              <a:rPr lang="en-US" sz="1800" dirty="0"/>
              <a:t> </a:t>
            </a:r>
            <a:r>
              <a:rPr lang="en-US" sz="1800" dirty="0" err="1"/>
              <a:t>strategy,and</a:t>
            </a:r>
            <a:r>
              <a:rPr lang="en-US" sz="1800" dirty="0"/>
              <a:t> sentiment analysis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Social Media  Agent efficiently. IBM Cloud enables a </a:t>
            </a:r>
            <a:r>
              <a:rPr lang="en-US" sz="1800" b="1" dirty="0"/>
              <a:t>reliable, secure, and scalable environment</a:t>
            </a:r>
            <a:r>
              <a:rPr lang="en-US" sz="1800" dirty="0"/>
              <a:t> for deploying the Social Media Agents.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real-time trends and brand guidelines, and audience data first, </a:t>
            </a:r>
            <a:r>
              <a:rPr lang="en-US" sz="1600" dirty="0">
                <a:solidFill>
                  <a:schemeClr val="tx1"/>
                </a:solidFill>
              </a:rPr>
              <a:t>then generate intelligent post idea and responses, making the Social Media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brand asset and historical campaign data retrieval </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016758"/>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Data </a:t>
            </a:r>
          </a:p>
          <a:p>
            <a:pPr marL="342900" indent="-342900">
              <a:buFont typeface="+mj-lt"/>
              <a:buAutoNum type="arabicPeriod"/>
            </a:pPr>
            <a:endParaRPr lang="en-US" sz="1800" dirty="0"/>
          </a:p>
          <a:p>
            <a:pPr marL="342900" indent="-342900">
              <a:buFont typeface="+mj-lt"/>
              <a:buAutoNum type="arabicPeriod"/>
            </a:pPr>
            <a:r>
              <a:rPr lang="en-US" sz="1800" dirty="0"/>
              <a:t>Modules </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Index.html</a:t>
            </a:r>
          </a:p>
          <a:p>
            <a:pPr marL="342900" indent="-342900">
              <a:buFont typeface="+mj-lt"/>
              <a:buAutoNum type="arabicPeriod"/>
            </a:pPr>
            <a:endParaRPr lang="en-US" sz="1800"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EBB48679-78F6-A0E9-21AB-9E0659755B0F}"/>
              </a:ext>
            </a:extLst>
          </p:cNvPr>
          <p:cNvPicPr>
            <a:picLocks noChangeAspect="1"/>
          </p:cNvPicPr>
          <p:nvPr/>
        </p:nvPicPr>
        <p:blipFill>
          <a:blip r:embed="rId3"/>
          <a:stretch>
            <a:fillRect/>
          </a:stretch>
        </p:blipFill>
        <p:spPr>
          <a:xfrm>
            <a:off x="3114317" y="1255054"/>
            <a:ext cx="8823961" cy="5270338"/>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6B2A4AF7-40ED-A005-A943-4E6A3712F412}"/>
              </a:ext>
            </a:extLst>
          </p:cNvPr>
          <p:cNvPicPr>
            <a:picLocks noChangeAspect="1"/>
          </p:cNvPicPr>
          <p:nvPr/>
        </p:nvPicPr>
        <p:blipFill>
          <a:blip r:embed="rId3"/>
          <a:stretch>
            <a:fillRect/>
          </a:stretch>
        </p:blipFill>
        <p:spPr>
          <a:xfrm>
            <a:off x="1298448" y="969264"/>
            <a:ext cx="10893552" cy="5897880"/>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EBD379-74E7-29B6-FCED-DC6CB81841C5}"/>
              </a:ext>
            </a:extLst>
          </p:cNvPr>
          <p:cNvPicPr>
            <a:picLocks noChangeAspect="1"/>
          </p:cNvPicPr>
          <p:nvPr/>
        </p:nvPicPr>
        <p:blipFill>
          <a:blip r:embed="rId2"/>
          <a:stretch>
            <a:fillRect/>
          </a:stretch>
        </p:blipFill>
        <p:spPr>
          <a:xfrm>
            <a:off x="338328" y="0"/>
            <a:ext cx="11247120" cy="685800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A16FCF69-BD13-DBEE-5D11-3659702F5F18}"/>
              </a:ext>
            </a:extLst>
          </p:cNvPr>
          <p:cNvPicPr>
            <a:picLocks noChangeAspect="1"/>
          </p:cNvPicPr>
          <p:nvPr/>
        </p:nvPicPr>
        <p:blipFill>
          <a:blip r:embed="rId3"/>
          <a:stretch>
            <a:fillRect/>
          </a:stretch>
        </p:blipFill>
        <p:spPr>
          <a:xfrm>
            <a:off x="923545" y="905257"/>
            <a:ext cx="10497312" cy="5629504"/>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1057765"/>
            <a:ext cx="7406640" cy="5493812"/>
          </a:xfrm>
          <a:prstGeom prst="rect">
            <a:avLst/>
          </a:prstGeom>
          <a:noFill/>
        </p:spPr>
        <p:txBody>
          <a:bodyPr wrap="square" rtlCol="0">
            <a:spAutoFit/>
          </a:bodyPr>
          <a:lstStyle/>
          <a:p>
            <a:r>
              <a:rPr lang="en-US" sz="1700" b="1" dirty="0"/>
              <a:t>Role of Agentic AI in Social Media Agent</a:t>
            </a:r>
          </a:p>
          <a:p>
            <a:endParaRPr lang="en-US" b="1" dirty="0"/>
          </a:p>
          <a:p>
            <a:r>
              <a:rPr lang="en-US" sz="1600" b="1" dirty="0"/>
              <a:t>Agentic AI</a:t>
            </a:r>
            <a:r>
              <a:rPr lang="en-US" sz="1600" dirty="0"/>
              <a:t> enables the Social Media Agent to function as an intelligent, autonomous system rather than a simple chatbot. Using </a:t>
            </a:r>
            <a:r>
              <a:rPr lang="en-US" sz="1600" b="1" dirty="0"/>
              <a:t>IBM watsonx.ai</a:t>
            </a:r>
            <a:r>
              <a:rPr lang="en-US" sz="1600" dirty="0"/>
              <a:t> and </a:t>
            </a:r>
            <a:r>
              <a:rPr lang="en-US" sz="1600" b="1" dirty="0"/>
              <a:t>IBM Granite models</a:t>
            </a:r>
            <a:r>
              <a:rPr lang="en-US" sz="1600" dirty="0"/>
              <a:t>, it coordinates multiple specialized agents to deliver personalized social media management.</a:t>
            </a:r>
          </a:p>
          <a:p>
            <a:endParaRPr lang="en-US" sz="1600" dirty="0"/>
          </a:p>
          <a:p>
            <a:r>
              <a:rPr lang="en-US" sz="1600" dirty="0"/>
              <a:t>Each agent performs a specific role—such as analyzing live trends, </a:t>
            </a:r>
            <a:r>
              <a:rPr lang="en-US" sz="1600" dirty="0" err="1"/>
              <a:t>deafting</a:t>
            </a:r>
            <a:r>
              <a:rPr lang="en-US" sz="1600" dirty="0"/>
              <a:t> tailored posts, engaging with comments, and evaluating performance metrics—while </a:t>
            </a:r>
            <a:r>
              <a:rPr lang="en-US" sz="1600" dirty="0" err="1"/>
              <a:t>workingcollaboratively</a:t>
            </a:r>
            <a:r>
              <a:rPr lang="en-US" sz="1600" dirty="0"/>
              <a:t>. This </a:t>
            </a:r>
            <a:r>
              <a:rPr lang="en-US" sz="1600" b="1" dirty="0"/>
              <a:t>multi-agent approach</a:t>
            </a:r>
            <a:r>
              <a:rPr lang="en-US" sz="1600" dirty="0"/>
              <a:t> ensures efficient task execution and accurate results.</a:t>
            </a:r>
          </a:p>
          <a:p>
            <a:endParaRPr lang="en-US" sz="1600" dirty="0"/>
          </a:p>
          <a:p>
            <a:r>
              <a:rPr lang="en-US" sz="1600" dirty="0"/>
              <a:t>Agentic AI also brings </a:t>
            </a:r>
            <a:r>
              <a:rPr lang="en-US" sz="1600" b="1" dirty="0"/>
              <a:t>context awareness</a:t>
            </a:r>
            <a:r>
              <a:rPr lang="en-US" sz="1600" dirty="0"/>
              <a:t>, understanding brand voice, target audience preferences, and campaign objectives to generate tailored content. It supports real-time adaptation, continuously refining post schedules and responses based on audience interactions.</a:t>
            </a:r>
          </a:p>
          <a:p>
            <a:r>
              <a:rPr lang="en-US" sz="1600" dirty="0"/>
              <a:t> Additionally, agents communicate with each other, enabling better decision-making and improved campaign performance.</a:t>
            </a:r>
          </a:p>
          <a:p>
            <a:endParaRPr lang="en-US" sz="1600" dirty="0"/>
          </a:p>
          <a:p>
            <a:r>
              <a:rPr lang="en-US" sz="1600" dirty="0"/>
              <a:t>Overall, Agentic AI makes the system proactive, personalized, and goal-driven, acting like a </a:t>
            </a:r>
            <a:r>
              <a:rPr lang="en-US" sz="1600" b="1" dirty="0"/>
              <a:t>smart digital social media manager</a:t>
            </a:r>
            <a:r>
              <a:rPr lang="en-US" sz="1600" dirty="0"/>
              <a:t> that helps brands maximize engagement and presence.</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2E136754-A0B7-AE85-AA8D-5E198774FD73}"/>
              </a:ext>
            </a:extLst>
          </p:cNvPr>
          <p:cNvPicPr>
            <a:picLocks noChangeAspect="1"/>
          </p:cNvPicPr>
          <p:nvPr/>
        </p:nvPicPr>
        <p:blipFill>
          <a:blip r:embed="rId3"/>
          <a:stretch>
            <a:fillRect/>
          </a:stretch>
        </p:blipFill>
        <p:spPr>
          <a:xfrm>
            <a:off x="859536" y="816977"/>
            <a:ext cx="10762488" cy="5774950"/>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265176" y="100584"/>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356616" y="704088"/>
            <a:ext cx="11722608" cy="6124754"/>
          </a:xfrm>
          <a:prstGeom prst="rect">
            <a:avLst/>
          </a:prstGeom>
          <a:noFill/>
        </p:spPr>
        <p:txBody>
          <a:bodyPr wrap="square" rtlCol="0">
            <a:spAutoFit/>
          </a:bodyPr>
          <a:lstStyle/>
          <a:p>
            <a:r>
              <a:rPr lang="en-IN" sz="1800" dirty="0"/>
              <a:t>The proposed Social Media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data-driven social media management.</a:t>
            </a:r>
          </a:p>
          <a:p>
            <a:endParaRPr lang="en-IN" sz="1800" dirty="0"/>
          </a:p>
          <a:p>
            <a:r>
              <a:rPr lang="en-IN" sz="1800" b="1" dirty="0"/>
              <a:t>RAG-Based Accuracy</a:t>
            </a:r>
            <a:r>
              <a:rPr lang="en-IN" sz="1800" dirty="0"/>
              <a:t> – Integrates real-time trend retrieval and brand guidelines with AI generation, eliminating generic responses. </a:t>
            </a:r>
          </a:p>
          <a:p>
            <a:endParaRPr lang="en-IN" sz="1800" dirty="0"/>
          </a:p>
          <a:p>
            <a:r>
              <a:rPr lang="en-IN" sz="1800" b="1" dirty="0"/>
              <a:t>Hyper-Personalization</a:t>
            </a:r>
            <a:r>
              <a:rPr lang="en-IN" sz="1800" dirty="0"/>
              <a:t> – Tailors post </a:t>
            </a:r>
            <a:r>
              <a:rPr lang="en-IN" sz="1800" dirty="0" err="1"/>
              <a:t>captions,tone</a:t>
            </a:r>
            <a:r>
              <a:rPr lang="en-IN" sz="1800" dirty="0"/>
              <a:t> and campaign schedules based on brand voice, target  </a:t>
            </a:r>
            <a:r>
              <a:rPr lang="en-IN" sz="1800" dirty="0" err="1"/>
              <a:t>audience,and</a:t>
            </a:r>
            <a:r>
              <a:rPr lang="en-IN" sz="1800" dirty="0"/>
              <a:t> </a:t>
            </a:r>
            <a:r>
              <a:rPr lang="en-IN" sz="1800" dirty="0" err="1"/>
              <a:t>platfrom</a:t>
            </a:r>
            <a:r>
              <a:rPr lang="en-IN" sz="1800" dirty="0"/>
              <a:t> dynamics. </a:t>
            </a:r>
          </a:p>
          <a:p>
            <a:endParaRPr lang="en-IN" sz="1800" dirty="0"/>
          </a:p>
          <a:p>
            <a:r>
              <a:rPr lang="en-IN" sz="1800" b="1" dirty="0"/>
              <a:t>Real-Time Feedback Loop</a:t>
            </a:r>
            <a:r>
              <a:rPr lang="en-IN" sz="1800" dirty="0"/>
              <a:t> – Continuously adapts content strategy based on post performance, engagement metrics, and audience interaction. </a:t>
            </a:r>
          </a:p>
          <a:p>
            <a:endParaRPr lang="en-IN" sz="1800" dirty="0"/>
          </a:p>
          <a:p>
            <a:r>
              <a:rPr lang="en-IN" sz="1800" b="1" dirty="0"/>
              <a:t>Multi-Modal Input</a:t>
            </a:r>
            <a:r>
              <a:rPr lang="en-IN" sz="1800" dirty="0"/>
              <a:t> – Supports text, voice, and image-based meal tracking for better usability.  </a:t>
            </a:r>
          </a:p>
          <a:p>
            <a:endParaRPr lang="en-IN" sz="1800" dirty="0"/>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social</a:t>
            </a:r>
            <a:r>
              <a:rPr lang="en-IN" sz="1800" dirty="0"/>
              <a:t>, not just a static content generator.</a:t>
            </a:r>
            <a:endParaRPr lang="en-US"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94667" y="118873"/>
            <a:ext cx="7468553" cy="1005874"/>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Git Hub Link</a:t>
            </a:r>
            <a:endParaRPr sz="28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320040" y="1044264"/>
            <a:ext cx="10113264" cy="4386450"/>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 Please create public </a:t>
            </a:r>
            <a:r>
              <a:rPr lang="en-US" sz="2000" b="0" i="0" u="none" strike="noStrike" cap="none" dirty="0" err="1">
                <a:solidFill>
                  <a:srgbClr val="2B3541"/>
                </a:solidFill>
                <a:latin typeface="Times New Roman"/>
                <a:ea typeface="Times New Roman"/>
                <a:cs typeface="Times New Roman"/>
                <a:sym typeface="Times New Roman"/>
              </a:rPr>
              <a:t>github</a:t>
            </a:r>
            <a:r>
              <a:rPr lang="en-US" sz="200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2000" dirty="0">
                <a:solidFill>
                  <a:srgbClr val="2B3541"/>
                </a:solidFill>
                <a:latin typeface="Times New Roman"/>
                <a:ea typeface="Times New Roman"/>
                <a:cs typeface="Times New Roman"/>
                <a:sym typeface="Times New Roman"/>
              </a:rPr>
              <a:t>Please test and Paste the working  </a:t>
            </a:r>
            <a:r>
              <a:rPr lang="en-US" sz="2000" dirty="0" err="1">
                <a:solidFill>
                  <a:srgbClr val="2B3541"/>
                </a:solidFill>
                <a:latin typeface="Times New Roman"/>
                <a:ea typeface="Times New Roman"/>
                <a:cs typeface="Times New Roman"/>
                <a:sym typeface="Times New Roman"/>
              </a:rPr>
              <a:t>Github</a:t>
            </a:r>
            <a:r>
              <a:rPr lang="en-US" sz="200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2000" b="1" dirty="0">
                <a:solidFill>
                  <a:srgbClr val="2B3541"/>
                </a:solidFill>
                <a:latin typeface="Times New Roman"/>
                <a:ea typeface="Times New Roman"/>
                <a:cs typeface="Times New Roman"/>
                <a:sym typeface="Times New Roman"/>
              </a:rPr>
              <a:t>Make sure you have Uploaded following three files into your </a:t>
            </a:r>
            <a:r>
              <a:rPr lang="en-US" sz="2000" b="1" dirty="0" err="1">
                <a:solidFill>
                  <a:srgbClr val="2B3541"/>
                </a:solidFill>
                <a:latin typeface="Times New Roman"/>
                <a:ea typeface="Times New Roman"/>
                <a:cs typeface="Times New Roman"/>
                <a:sym typeface="Times New Roman"/>
              </a:rPr>
              <a:t>github</a:t>
            </a:r>
            <a:r>
              <a:rPr lang="en-US" sz="2000" b="1" dirty="0">
                <a:solidFill>
                  <a:srgbClr val="2B3541"/>
                </a:solidFill>
                <a:latin typeface="Times New Roman"/>
                <a:ea typeface="Times New Roman"/>
                <a:cs typeface="Times New Roman"/>
                <a:sym typeface="Times New Roman"/>
              </a:rPr>
              <a:t> repository  </a:t>
            </a:r>
            <a:br>
              <a:rPr lang="en-US" sz="2000" dirty="0">
                <a:solidFill>
                  <a:srgbClr val="2B3541"/>
                </a:solidFill>
                <a:latin typeface="Times New Roman"/>
                <a:ea typeface="Times New Roman"/>
                <a:cs typeface="Times New Roman"/>
                <a:sym typeface="Times New Roman"/>
              </a:rPr>
            </a:br>
            <a:r>
              <a:rPr lang="en-US" sz="200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94667" y="128017"/>
            <a:ext cx="7468553" cy="996730"/>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475488" y="914400"/>
            <a:ext cx="9957816" cy="5486399"/>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a:t>
            </a:r>
            <a:r>
              <a:rPr lang="en-US" sz="1850" b="1" dirty="0">
                <a:solidFill>
                  <a:srgbClr val="2B3541"/>
                </a:solidFill>
                <a:latin typeface="Times New Roman"/>
                <a:ea typeface="Times New Roman"/>
                <a:cs typeface="Times New Roman"/>
                <a:sym typeface="Times New Roman"/>
              </a:rPr>
              <a:t> Social Media APIs &amp; Analytics Tools </a:t>
            </a:r>
            <a:r>
              <a:rPr lang="en-US" sz="1850" b="1" i="0" u="none" strike="noStrike" cap="none" dirty="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The system can be integrated directly with platforms like LinkedIn, X (Twitter), Instagram, and Meta Ads to auto-publish content and collect real-time engagement data such as impressions, clicks, shares, and audience demographics. This will enable the Social Media Agent to provide more accurate and dynamic campaign strategy adjustments based on actual performance metrics.</a:t>
            </a:r>
            <a:r>
              <a:rPr lang="en-US" sz="1850" b="0" i="0" u="none" strike="noStrike" cap="none" dirty="0">
                <a:solidFill>
                  <a:srgbClr val="2B3541"/>
                </a:solidFill>
                <a:latin typeface="Times New Roman"/>
                <a:ea typeface="Times New Roman"/>
                <a:cs typeface="Times New Roman"/>
                <a:sym typeface="Times New Roman"/>
              </a:rPr>
              <a:t>.</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Content Generation  </a:t>
            </a:r>
            <a:r>
              <a:rPr lang="en-US" sz="1850" b="0" i="0" u="none" strike="noStrike" cap="none" dirty="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Enhancing the system with a voice-enabled assistant and support for multiple global and regional languages will improve accessibility. Brand managers and creators can interact naturally in their preferred language to generate localized social posts and campaigns, making the solution more inclusive and suitable for diverse global target audiences.</a:t>
            </a:r>
            <a:endParaRPr lang="en-US" sz="1850" b="0" i="0" u="none" strike="noStrike" cap="none" dirty="0">
              <a:solidFill>
                <a:srgbClr val="2B354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8" name="Picture 7">
            <a:extLst>
              <a:ext uri="{FF2B5EF4-FFF2-40B4-BE49-F238E27FC236}">
                <a16:creationId xmlns:a16="http://schemas.microsoft.com/office/drawing/2014/main" id="{5FB2CE25-7E80-57F6-589D-FB0A5C93B379}"/>
              </a:ext>
            </a:extLst>
          </p:cNvPr>
          <p:cNvPicPr>
            <a:picLocks noChangeAspect="1"/>
          </p:cNvPicPr>
          <p:nvPr/>
        </p:nvPicPr>
        <p:blipFill>
          <a:blip r:embed="rId2"/>
          <a:stretch>
            <a:fillRect/>
          </a:stretch>
        </p:blipFill>
        <p:spPr>
          <a:xfrm>
            <a:off x="1847088" y="1213281"/>
            <a:ext cx="8752722" cy="5553568"/>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EA11A9D7-25AA-5948-EF14-650BF94D6A9A}"/>
              </a:ext>
            </a:extLst>
          </p:cNvPr>
          <p:cNvPicPr>
            <a:picLocks noChangeAspect="1"/>
          </p:cNvPicPr>
          <p:nvPr/>
        </p:nvPicPr>
        <p:blipFill>
          <a:blip r:embed="rId2"/>
          <a:stretch>
            <a:fillRect/>
          </a:stretch>
        </p:blipFill>
        <p:spPr>
          <a:xfrm>
            <a:off x="1221225" y="1200580"/>
            <a:ext cx="10066892" cy="5657420"/>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806</TotalTime>
  <Words>1260</Words>
  <Application>Microsoft Office PowerPoint</Application>
  <PresentationFormat>Widescreen</PresentationFormat>
  <Paragraphs>141</Paragraphs>
  <Slides>17</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rimjhim gaud</cp:lastModifiedBy>
  <cp:revision>25</cp:revision>
  <dcterms:created xsi:type="dcterms:W3CDTF">2025-07-08T05:06:56Z</dcterms:created>
  <dcterms:modified xsi:type="dcterms:W3CDTF">2026-10-07T19:37:47Z</dcterms:modified>
</cp:coreProperties>
</file>